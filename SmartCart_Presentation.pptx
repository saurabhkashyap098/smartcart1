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52A5A"/>
          </a:solidFill>
          <a:ln w="12700">
            <a:solidFill>
              <a:srgbClr val="152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SmartCart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Application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291840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Flipkart-Inspired Clone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5303520" cy="960120"/>
          </a:xfrm>
          <a:prstGeom prst="rect">
            <a:avLst/>
          </a:prstGeom>
          <a:solidFill>
            <a:srgbClr val="0D1F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41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43159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  </a:t>
            </a:r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2023-1010-1360-206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2023-1010-1360-207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Tanishk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00584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62A55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005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66420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62A55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6642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322576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62A55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3225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980944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62A55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809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639312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62A55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639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SmartCart?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is a production-ready full-stack e-commerce web application inspired by Flipkart. It replicates real-world shopping features including product browsing, cart management, secure checkout, and order tracking.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77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1920240" cy="10058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377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33172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377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1920240" cy="10058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377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real-world e-commerce platform from scratch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JWT-based authentication system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Razorpay payment gateway for live transactions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admin dashboard for complete store management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960120"/>
          </a:xfrm>
          <a:prstGeom prst="rect">
            <a:avLst/>
          </a:prstGeom>
          <a:solidFill>
            <a:srgbClr val="D4EDDA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01168" cy="960120"/>
          </a:xfrm>
          <a:prstGeom prst="rect">
            <a:avLst/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61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57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65960" cy="960120"/>
          </a:xfrm>
          <a:prstGeom prst="rect">
            <a:avLst/>
          </a:prstGeom>
          <a:solidFill>
            <a:srgbClr val="E2E2E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051560"/>
            <a:ext cx="201168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1161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965960" cy="960120"/>
          </a:xfrm>
          <a:prstGeom prst="rect">
            <a:avLst/>
          </a:prstGeom>
          <a:solidFill>
            <a:srgbClr val="D6EDD0"/>
          </a:solidFill>
          <a:ln w="12700">
            <a:solidFill>
              <a:srgbClr val="3D6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51560"/>
            <a:ext cx="201168" cy="960120"/>
          </a:xfrm>
          <a:prstGeom prst="rect">
            <a:avLst/>
          </a:prstGeom>
          <a:solidFill>
            <a:srgbClr val="3D6B2A"/>
          </a:solidFill>
          <a:ln w="12700">
            <a:solidFill>
              <a:srgbClr val="3D6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161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051560"/>
            <a:ext cx="1965960" cy="960120"/>
          </a:xfrm>
          <a:prstGeom prst="rect">
            <a:avLst/>
          </a:prstGeom>
          <a:solidFill>
            <a:srgbClr val="D6EDD0"/>
          </a:solidFill>
          <a:ln w="12700">
            <a:solidFill>
              <a:srgbClr val="3D6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051560"/>
            <a:ext cx="201168" cy="960120"/>
          </a:xfrm>
          <a:prstGeom prst="rect">
            <a:avLst/>
          </a:prstGeom>
          <a:solidFill>
            <a:srgbClr val="3D6B2A"/>
          </a:solidFill>
          <a:ln w="12700">
            <a:solidFill>
              <a:srgbClr val="3D6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161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8312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Library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21992"/>
            <a:ext cx="1965960" cy="960120"/>
          </a:xfrm>
          <a:prstGeom prst="rect">
            <a:avLst/>
          </a:prstGeom>
          <a:solidFill>
            <a:srgbClr val="F5D5D5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221992"/>
            <a:ext cx="201168" cy="960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331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14600" y="2221992"/>
            <a:ext cx="1965960" cy="960120"/>
          </a:xfrm>
          <a:prstGeom prst="rect">
            <a:avLst/>
          </a:prstGeom>
          <a:solidFill>
            <a:srgbClr val="F5D5D5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221992"/>
            <a:ext cx="201168" cy="960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2331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bcryptjs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70632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221992"/>
            <a:ext cx="1965960" cy="960120"/>
          </a:xfrm>
          <a:prstGeom prst="rect">
            <a:avLst/>
          </a:prstGeom>
          <a:solidFill>
            <a:srgbClr val="D0E3FF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21992"/>
            <a:ext cx="201168" cy="960120"/>
          </a:xfrm>
          <a:prstGeom prst="rect">
            <a:avLst/>
          </a:prstGeom>
          <a:solidFill>
            <a:srgbClr val="1A4FA0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331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2221992"/>
            <a:ext cx="1965960" cy="960120"/>
          </a:xfrm>
          <a:prstGeom prst="rect">
            <a:avLst/>
          </a:prstGeom>
          <a:solidFill>
            <a:srgbClr val="FFF0C0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2221992"/>
            <a:ext cx="201168" cy="960120"/>
          </a:xfrm>
          <a:prstGeom prst="rect">
            <a:avLst/>
          </a:prstGeom>
          <a:solidFill>
            <a:srgbClr val="8B6200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2331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Nodemailer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68312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392424"/>
            <a:ext cx="1965960" cy="960120"/>
          </a:xfrm>
          <a:prstGeom prst="rect">
            <a:avLst/>
          </a:prstGeom>
          <a:solidFill>
            <a:srgbClr val="FFE0CC"/>
          </a:solidFill>
          <a:ln w="12700">
            <a:solidFill>
              <a:srgbClr val="7B2B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392424"/>
            <a:ext cx="201168" cy="960120"/>
          </a:xfrm>
          <a:prstGeom prst="rect">
            <a:avLst/>
          </a:prstGeom>
          <a:solidFill>
            <a:srgbClr val="7B2B00"/>
          </a:solidFill>
          <a:ln w="12700">
            <a:solidFill>
              <a:srgbClr val="7B2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3502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HTML5/CSS3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14600" y="3392424"/>
            <a:ext cx="1965960" cy="960120"/>
          </a:xfrm>
          <a:prstGeom prst="rect">
            <a:avLst/>
          </a:prstGeom>
          <a:solidFill>
            <a:srgbClr val="FFF8CC"/>
          </a:solidFill>
          <a:ln w="12700">
            <a:solidFill>
              <a:srgbClr val="8B7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14600" y="3392424"/>
            <a:ext cx="201168" cy="960120"/>
          </a:xfrm>
          <a:prstGeom prst="rect">
            <a:avLst/>
          </a:prstGeom>
          <a:solidFill>
            <a:srgbClr val="8B7300"/>
          </a:solidFill>
          <a:ln w="12700">
            <a:solidFill>
              <a:srgbClr val="8B7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70632" y="3502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770632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392424"/>
            <a:ext cx="1965960" cy="960120"/>
          </a:xfrm>
          <a:prstGeom prst="rect">
            <a:avLst/>
          </a:prstGeom>
          <a:solidFill>
            <a:srgbClr val="CCEFEF"/>
          </a:solidFill>
          <a:ln w="12700">
            <a:solidFill>
              <a:srgbClr val="005F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392424"/>
            <a:ext cx="201168" cy="960120"/>
          </a:xfrm>
          <a:prstGeom prst="rect">
            <a:avLst/>
          </a:prstGeom>
          <a:solidFill>
            <a:srgbClr val="005F5F"/>
          </a:solidFill>
          <a:ln w="12700">
            <a:solidFill>
              <a:srgbClr val="005F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502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Nodemon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919472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12280" y="3392424"/>
            <a:ext cx="1965960" cy="960120"/>
          </a:xfrm>
          <a:prstGeom prst="rect">
            <a:avLst/>
          </a:prstGeom>
          <a:solidFill>
            <a:srgbClr val="EAD9FF"/>
          </a:solidFill>
          <a:ln w="12700">
            <a:solidFill>
              <a:srgbClr val="5A2D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2280" y="3392424"/>
            <a:ext cx="201168" cy="960120"/>
          </a:xfrm>
          <a:prstGeom prst="rect">
            <a:avLst/>
          </a:prstGeom>
          <a:solidFill>
            <a:srgbClr val="5A2D8B"/>
          </a:solidFill>
          <a:ln w="12700">
            <a:solidFill>
              <a:srgbClr val="5A2D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68312" y="3502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2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dotenv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68312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Mgmt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51760" cy="4572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651760" cy="320040"/>
          </a:xfrm>
          <a:prstGeom prst="rect">
            <a:avLst/>
          </a:prstGeom>
          <a:solidFill>
            <a:srgbClr val="FFF0EA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2651760" cy="1188720"/>
          </a:xfrm>
          <a:prstGeom prst="rect">
            <a:avLst/>
          </a:prstGeom>
          <a:solidFill>
            <a:srgbClr val="FFF0EA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pages: Home, Products,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Orders,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Wishlist, Profile, Admin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15544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4447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51760" cy="320040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920240"/>
            <a:ext cx="2651760" cy="1188720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Auth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· Controllers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Error Handling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15544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4447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72200" y="1143000"/>
            <a:ext cx="2651760" cy="457200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2651760" cy="320040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920240"/>
            <a:ext cx="2651760" cy="1188720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User · Product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Order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Seeded: 20 products, 2 users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363931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(Payment Gateway)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/ Gmail SMTP (Emails)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/ Local (Database)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(Stateless Auth Tokens)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Feature 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Login/Register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9728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&amp; Filter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44475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Filter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9728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Cart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44475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Items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for Later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Breakdown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09728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144475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Wallets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8892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88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13639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&amp; Reorder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78892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278892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788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 Panel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13639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78892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78892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788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Wishlist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313639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Products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Cart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788920"/>
            <a:ext cx="1965960" cy="146304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788920"/>
            <a:ext cx="1965960" cy="3200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788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Reviews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3136392"/>
            <a:ext cx="1783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Comments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Security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" y="1508760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508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09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credentials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167128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167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Hash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3682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+ salted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825496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825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0266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generated (7d expiry)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483864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483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6850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verified on each request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" y="4142232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142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3434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114800" cy="3931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5D5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with 7-day expiry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 (10 rounds)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localStorage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 routes with middleware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routes with role check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via email token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cross-origin requests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secrets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Catalog &amp;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Data Model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438912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name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Max 300 chars,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price / originalPrice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Number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Min 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discount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Number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0-100%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category / brand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stock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Number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Min 0,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images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Array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URL list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rating / numReviews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Number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Auto-calculated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specifications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Map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Key-value pairs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featured / isActive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Boolean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</a:rPr>
                        <a:t>Visibility flags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051560"/>
            <a:ext cx="3749040" cy="3886200"/>
          </a:xfrm>
          <a:prstGeom prst="rect">
            <a:avLst/>
          </a:prstGeom>
          <a:solidFill>
            <a:srgbClr val="E8EEF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 Features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15727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Full-Text Search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66360" y="1801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text index on name &amp; description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66360" y="21396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Price Range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6360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price filter with slider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66360" y="27066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Rating Filter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66360" y="29352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minimum star rating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16636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Category &amp; Brand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66360" y="35021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dropdown filters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66360" y="3840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Stock Status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66360" y="40690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 only toggle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66360" y="4407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 Sort Options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66360" y="46360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Rating, Newest, Popularity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WISHLIST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Shopping Cart &amp; Wishlist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886200"/>
          </a:xfrm>
          <a:prstGeom prst="rect">
            <a:avLst/>
          </a:prstGeom>
          <a:solidFill>
            <a:srgbClr val="FFF5E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Cart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with quantity selection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item quantity (increment/decrement)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individual items from cart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items for later (wishlist move)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entire cart at once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breakdown display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+ delivery charge calculation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cart stored in MongoDB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synced with user account (JWT)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3886200"/>
          </a:xfrm>
          <a:prstGeom prst="rect">
            <a:avLst/>
          </a:prstGeom>
          <a:solidFill>
            <a:srgbClr val="FFF0F5"/>
          </a:solidFill>
          <a:ln w="12700">
            <a:solidFill>
              <a:srgbClr val="CC22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solidFill>
            <a:srgbClr val="CC2255"/>
          </a:solidFill>
          <a:ln w="12700">
            <a:solidFill>
              <a:srgbClr val="CC22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Wishlist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50876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product to wishlist with one click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stored in user profile (DB)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saved products on wishlist page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wishlist items directly to cart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items from wishlist easily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icon shows save status live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navbar anywhere in app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sessions (persistent data)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Gateway Integration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029200" cy="3840480"/>
          </a:xfrm>
          <a:prstGeom prst="rect">
            <a:avLst/>
          </a:prstGeom>
          <a:solidFill>
            <a:srgbClr val="0E2240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029200" cy="384048"/>
          </a:xfrm>
          <a:prstGeom prst="rect">
            <a:avLst/>
          </a:prstGeom>
          <a:solidFill>
            <a:srgbClr val="1A4FA0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Razorpay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910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5910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Razorpay order via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494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Modal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2494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opens Razorpay payment popup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077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Done —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907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pays via Card/UPI/Netbanking/Wallet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29584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5661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Save —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4884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 signature, saves order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87952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245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redirected to order success page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77840" y="1051560"/>
            <a:ext cx="3291840" cy="1828800"/>
          </a:xfrm>
          <a:prstGeom prst="rect">
            <a:avLst/>
          </a:prstGeom>
          <a:solidFill>
            <a:srgbClr val="0E22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051560"/>
            <a:ext cx="32918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051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Cash on Delivery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1481328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COD at checkout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pre-payment needed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instantly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when you receive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77840" y="3017520"/>
            <a:ext cx="3291840" cy="1874520"/>
          </a:xfrm>
          <a:prstGeom prst="rect">
            <a:avLst/>
          </a:prstGeom>
          <a:solidFill>
            <a:srgbClr val="0E22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3017520"/>
            <a:ext cx="32918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017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Mode Details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3456432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Card: 4111 1111 1111 1111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Expiry: Any future date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CVV: Any 3 digits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keys: dashboard.razorpay.com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17A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217A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Management &amp; Tracking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05840" cy="100584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051560"/>
            <a:ext cx="1005840" cy="1005840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554480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051560"/>
            <a:ext cx="1005840" cy="1005840"/>
          </a:xfrm>
          <a:prstGeom prst="ellipse">
            <a:avLst/>
          </a:prstGeom>
          <a:solidFill>
            <a:srgbClr val="8B6200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1051560"/>
            <a:ext cx="1005840" cy="1005840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1554480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1005840" cy="10058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Lifecycle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4160520" cy="2423160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Order Features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292608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with delivery address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past orders with status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orders by status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detailed order breakdown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pending/confirmed orders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from past purchases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email confirmation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 history log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2514600"/>
            <a:ext cx="4160520" cy="2423160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Order Features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292608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across all users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 (any stage)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statistics &amp; order count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orders by status/date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 order details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 fulfillment flow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Panel provides full control over the store — accessible only to users with admin role (JWT role check).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206240" cy="155448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42062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Stats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&amp; revenue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 count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 count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orders 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481328"/>
            <a:ext cx="4206240" cy="155448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81328"/>
            <a:ext cx="42062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65376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products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product details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 levels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206240" cy="155448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42062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Order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fulfilment flow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4206240" cy="1554480"/>
          </a:xfrm>
          <a:prstGeom prst="rect">
            <a:avLst/>
          </a:prstGeom>
          <a:solidFill>
            <a:srgbClr val="0E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200400"/>
            <a:ext cx="42062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00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58444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user active/inactive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order history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17A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217A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 &amp; Models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5F8FF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60520" cy="347472"/>
          </a:xfrm>
          <a:prstGeom prst="rect">
            <a:avLst/>
          </a:prstGeom>
          <a:solidFill>
            <a:srgbClr val="1A4FA0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User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password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(user/admin)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addresses[], wishlist[]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resetPasswordToken, expiry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60520" cy="1783080"/>
          </a:xfrm>
          <a:prstGeom prst="rect">
            <a:avLst/>
          </a:prstGeom>
          <a:solidFill>
            <a:srgbClr val="F5F8FF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51560"/>
            <a:ext cx="4160520" cy="347472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Product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4475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price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brand, stock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images[], highlights[]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numReviews, reviews[]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1783080"/>
          </a:xfrm>
          <a:prstGeom prst="rect">
            <a:avLst/>
          </a:prstGeom>
          <a:solidFill>
            <a:srgbClr val="F5F8FF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4160520" cy="347472"/>
          </a:xfrm>
          <a:prstGeom prst="rect">
            <a:avLst/>
          </a:prstGeom>
          <a:solidFill>
            <a:srgbClr val="8B6200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Cart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1071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(ref: User)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items[]: { product, qty }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with Product data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per user account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60520" cy="1783080"/>
          </a:xfrm>
          <a:prstGeom prst="rect">
            <a:avLst/>
          </a:prstGeom>
          <a:solidFill>
            <a:srgbClr val="F5F8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416052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Order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1071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(ref: User)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items[], totalAmount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paymentMethod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razorpayOrderId, history[]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seeded with 20 products, 1 admin &amp; 1 demo user using npm run seed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Endpoints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06240" cy="1783080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420624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  /api/auth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435608"/>
            <a:ext cx="40416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 — Create new account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 — JWT token returned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  — Profile (protected)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/wishlist/:id  — Toggle wishlist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POST/PUT/DELETE /address  — Addresses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/forgot-password  — Reset email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783080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4206240" cy="347472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Routes  /api/products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1435608"/>
            <a:ext cx="40416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— List + search + filter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/:id  — Single product detail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 — Add product (admin)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/:id  — Update product (admin)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/:id  — Delete product (admin)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/:id/review  — Add review (auth)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EBF2FF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17520"/>
            <a:ext cx="4206240" cy="347472"/>
          </a:xfrm>
          <a:prstGeom prst="rect">
            <a:avLst/>
          </a:prstGeom>
          <a:solidFill>
            <a:srgbClr val="1A4FA0"/>
          </a:solidFill>
          <a:ln w="12700">
            <a:solidFill>
              <a:srgbClr val="1A4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Routes  /api/cart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" y="3401568"/>
            <a:ext cx="40416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— Fetch user cart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 — Add item to cart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/:productId  — Update quantity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/:productId  — Remove item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 — Clear entire cart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FFF8E6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solidFill>
            <a:srgbClr val="8B6200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Routes  /api/orders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40416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 — Place new order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/my-orders  — User's orders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/:id  — Order detail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/:id/cancel  — Cancel order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— All orders (admin)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/:id/status  — Update (admin)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Pages &amp; UI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788920" cy="877824"/>
          </a:xfrm>
          <a:prstGeom prst="rect">
            <a:avLst/>
          </a:prstGeom>
          <a:solidFill>
            <a:srgbClr val="FFF5E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06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(index.html)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categories, featured products, deals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88920" cy="877824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06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Login / Register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3990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forms, forgot password 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051560"/>
            <a:ext cx="2788920" cy="877824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106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Products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7648" y="13990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view, filters sidebar, sort, search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075688"/>
            <a:ext cx="2788920" cy="877824"/>
          </a:xfrm>
          <a:prstGeom prst="rect">
            <a:avLst/>
          </a:prstGeom>
          <a:solidFill>
            <a:srgbClr val="FFF8E6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30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Product Detail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423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specs, reviews, buy/cart actions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075688"/>
            <a:ext cx="2788920" cy="877824"/>
          </a:xfrm>
          <a:prstGeom prst="rect">
            <a:avLst/>
          </a:prstGeom>
          <a:solidFill>
            <a:srgbClr val="FFF5E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130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Cart Page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423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quantities, price summary, save for later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2075688"/>
            <a:ext cx="2788920" cy="877824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130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Checkout Page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2423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selection, payment method, order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099816"/>
            <a:ext cx="2788920" cy="877824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Order Success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34472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with order 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099816"/>
            <a:ext cx="2788920" cy="877824"/>
          </a:xfrm>
          <a:prstGeom prst="rect">
            <a:avLst/>
          </a:prstGeom>
          <a:solidFill>
            <a:srgbClr val="FFF8E6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Orders List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4472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orders, filter by status, cancel/reorder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3099816"/>
            <a:ext cx="2788920" cy="877824"/>
          </a:xfrm>
          <a:prstGeom prst="rect">
            <a:avLst/>
          </a:prstGeom>
          <a:solidFill>
            <a:srgbClr val="FFF5E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Order Detail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34472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breakdown, status history, tracking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4123944"/>
            <a:ext cx="2788920" cy="877824"/>
          </a:xfrm>
          <a:prstGeom prst="rect">
            <a:avLst/>
          </a:prstGeom>
          <a:solidFill>
            <a:srgbClr val="E8EEF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Wishlist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44714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products, move to cart actions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91840" y="4123944"/>
            <a:ext cx="2788920" cy="877824"/>
          </a:xfrm>
          <a:prstGeom prst="rect">
            <a:avLst/>
          </a:prstGeom>
          <a:solidFill>
            <a:srgbClr val="E6F5E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Profile Page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44714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info, manage addresses, change password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6208" y="4123944"/>
            <a:ext cx="2788920" cy="877824"/>
          </a:xfrm>
          <a:prstGeom prst="rect">
            <a:avLst/>
          </a:prstGeom>
          <a:solidFill>
            <a:srgbClr val="FFF8E6"/>
          </a:solidFill>
          <a:ln w="12700">
            <a:solidFill>
              <a:srgbClr val="8B62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 Panel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27648" y="44714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store management dashboard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7472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CSS3, Vanilla JS — No frontend framework (React/Vue) used — Pure DOM manipulation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548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 — Full-Stack E-Commerce Web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2487168"/>
            <a:ext cx="548640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560320" cy="960120"/>
          </a:xfrm>
          <a:prstGeom prst="rect">
            <a:avLst/>
          </a:prstGeom>
          <a:solidFill>
            <a:srgbClr val="0E224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Saurabh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926080"/>
            <a:ext cx="2560320" cy="960120"/>
          </a:xfrm>
          <a:prstGeom prst="rect">
            <a:avLst/>
          </a:prstGeom>
          <a:solidFill>
            <a:srgbClr val="0E224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971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2023-1010-1360-207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2560320" cy="960120"/>
          </a:xfrm>
          <a:prstGeom prst="rect">
            <a:avLst/>
          </a:prstGeom>
          <a:solidFill>
            <a:srgbClr val="0E224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971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Tanishk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2023-1010-1360-208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MongoDB  ·  Razorpay  ·  JWT  ·  HTML/CSS/JS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SmartCart - E-Commerce Project</dc:title>
  <dc:subject>PptxGenJS Presentation</dc:subject>
  <dc:creator>PptxGenJS</dc:creator>
  <cp:lastModifiedBy>PptxGenJS</cp:lastModifiedBy>
  <cp:revision>1</cp:revision>
  <dcterms:created xsi:type="dcterms:W3CDTF">2026-04-26T23:59:59Z</dcterms:created>
  <dcterms:modified xsi:type="dcterms:W3CDTF">2026-04-26T23:59:59Z</dcterms:modified>
</cp:coreProperties>
</file>